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DEVELOPMENT AND TESTING OF A HIGH LEVEL BACK-END IMPLEMENTATION OF NUMERICAL METHODS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E6E6E6"/>
                </a:solidFill>
              </a:defRPr>
            </a:pPr>
            <a:r>
              <a:t>Prepared by Group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15 Members (Dedication)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LUGUNGA TIMOTHY</a:t>
            </a:r>
          </a:p>
          <a:p>
            <a:pPr>
              <a:defRPr sz="1200"/>
            </a:pPr>
            <a:r>
              <a:t>ODONG ERICK PERRY</a:t>
            </a:r>
          </a:p>
          <a:p>
            <a:pPr>
              <a:defRPr sz="1200"/>
            </a:pPr>
            <a:r>
              <a:t>KATUSIME JOEL</a:t>
            </a:r>
          </a:p>
          <a:p>
            <a:pPr>
              <a:defRPr sz="1200"/>
            </a:pPr>
            <a:r>
              <a:t>NABUKWASI SHAKIRA</a:t>
            </a:r>
          </a:p>
          <a:p>
            <a:pPr>
              <a:defRPr sz="1200"/>
            </a:pPr>
            <a:r>
              <a:t>NAZIWA PATRICIA</a:t>
            </a:r>
          </a:p>
          <a:p>
            <a:pPr>
              <a:defRPr sz="1200"/>
            </a:pPr>
            <a:r>
              <a:t>NANDIJJA LAILA</a:t>
            </a:r>
          </a:p>
          <a:p>
            <a:pPr>
              <a:defRPr sz="1200"/>
            </a:pPr>
            <a:r>
              <a:t>SIDENYA KEVIN</a:t>
            </a:r>
          </a:p>
          <a:p>
            <a:pPr>
              <a:defRPr sz="1200"/>
            </a:pPr>
            <a:r>
              <a:t>BULUMA DANIEL</a:t>
            </a:r>
          </a:p>
          <a:p>
            <a:pPr>
              <a:defRPr sz="1200"/>
            </a:pPr>
            <a:r>
              <a:t>BAHEMUKA GODWINS</a:t>
            </a:r>
          </a:p>
          <a:p>
            <a:pPr>
              <a:defRPr sz="1200"/>
            </a:pPr>
            <a:r>
              <a:t>NAMATA LILLIAN KIZZA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Class: NumericalMethod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Pseudocode:</a:t>
            </a:r>
          </a:p>
          <a:p>
            <a:pPr>
              <a:defRPr sz="1200"/>
            </a:pPr>
            <a:r>
              <a:t>CLASS NumericalMethod (ABSTRACT)</a:t>
            </a:r>
          </a:p>
          <a:p>
            <a:pPr>
              <a:defRPr sz="1200"/>
            </a:pPr>
            <a:r>
              <a:t>  PROPERTIES: f, tol, result, timeTaken</a:t>
            </a:r>
          </a:p>
          <a:p>
            <a:pPr>
              <a:defRPr sz="1200"/>
            </a:pPr>
            <a:r>
              <a:t>  ABSTRACT METHOD: solve()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MATLAB Code:</a:t>
            </a:r>
          </a:p>
          <a:p>
            <a:pPr>
              <a:defRPr sz="1200"/>
            </a:pPr>
            <a:r>
              <a:t>classdef (Abstract) NumericalMethod</a:t>
            </a:r>
          </a:p>
          <a:p>
            <a:pPr>
              <a:defRPr sz="1200"/>
            </a:pPr>
            <a:r>
              <a:t>    properties</a:t>
            </a:r>
          </a:p>
          <a:p>
            <a:pPr>
              <a:defRPr sz="1200"/>
            </a:pPr>
            <a:r>
              <a:t>        f       % function handle</a:t>
            </a:r>
          </a:p>
          <a:p>
            <a:pPr>
              <a:defRPr sz="1200"/>
            </a:pPr>
            <a:r>
              <a:t>        tol     % tolerance</a:t>
            </a:r>
          </a:p>
          <a:p>
            <a:pPr>
              <a:defRPr sz="1200"/>
            </a:pPr>
            <a:r>
              <a:t>        result  % result</a:t>
            </a:r>
          </a:p>
          <a:p>
            <a:pPr>
              <a:defRPr sz="1200"/>
            </a:pPr>
            <a:r>
              <a:t>        timeTaken % time</a:t>
            </a:r>
          </a:p>
          <a:p>
            <a:pPr>
              <a:defRPr sz="1200"/>
            </a:pPr>
            <a:r>
              <a:t>    end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    methods (Abstract)</a:t>
            </a:r>
          </a:p>
          <a:p>
            <a:pPr>
              <a:defRPr sz="1200"/>
            </a:pPr>
            <a:r>
              <a:t>        solve(obj);</a:t>
            </a:r>
          </a:p>
          <a:p>
            <a:pPr>
              <a:defRPr sz="1200"/>
            </a:pPr>
            <a:r>
              <a:t>    end</a:t>
            </a:r>
          </a:p>
          <a:p>
            <a:pPr>
              <a:defRPr sz="1200"/>
            </a:pPr>
            <a:r>
              <a:t>end</a:t>
            </a:r>
          </a:p>
          <a:p>
            <a:pPr>
              <a:defRPr sz="12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DifferentialMethods (NRM)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Pseudocode:</a:t>
            </a:r>
          </a:p>
          <a:p>
            <a:pPr>
              <a:defRPr sz="1200"/>
            </a:pPr>
            <a:r>
              <a:t>CLASS DifferentialMethods EXTENDS NumericalMethod</a:t>
            </a:r>
          </a:p>
          <a:p>
            <a:pPr>
              <a:defRPr sz="1200"/>
            </a:pPr>
            <a:r>
              <a:t>  METHOD solve():</a:t>
            </a:r>
          </a:p>
          <a:p>
            <a:pPr>
              <a:defRPr sz="1200"/>
            </a:pPr>
            <a:r>
              <a:t>    use Newton-Raphson until |x_new - x| &lt; tol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MATLAB Code:</a:t>
            </a:r>
          </a:p>
          <a:p>
            <a:pPr>
              <a:defRPr sz="1200"/>
            </a:pPr>
            <a:r>
              <a:t>classdef DifferentialMethods &lt; NumericalMethod</a:t>
            </a:r>
          </a:p>
          <a:p>
            <a:pPr>
              <a:defRPr sz="1200"/>
            </a:pPr>
            <a:r>
              <a:t>    methods</a:t>
            </a:r>
          </a:p>
          <a:p>
            <a:pPr>
              <a:defRPr sz="1200"/>
            </a:pPr>
            <a:r>
              <a:t>        function solve(obj)</a:t>
            </a:r>
          </a:p>
          <a:p>
            <a:pPr>
              <a:defRPr sz="1200"/>
            </a:pPr>
            <a:r>
              <a:t>            tic;</a:t>
            </a:r>
          </a:p>
          <a:p>
            <a:pPr>
              <a:defRPr sz="1200"/>
            </a:pPr>
            <a:r>
              <a:t>            f = obj.f;</a:t>
            </a:r>
          </a:p>
          <a:p>
            <a:pPr>
              <a:defRPr sz="1200"/>
            </a:pPr>
            <a:r>
              <a:t>            df = @(x) 3*x.^2 - 1;</a:t>
            </a:r>
          </a:p>
          <a:p>
            <a:pPr>
              <a:defRPr sz="1200"/>
            </a:pPr>
            <a:r>
              <a:t>            x = 1.5; % initial guess</a:t>
            </a:r>
          </a:p>
          <a:p>
            <a:pPr>
              <a:defRPr sz="1200"/>
            </a:pPr>
            <a:r>
              <a:t>            while true</a:t>
            </a:r>
          </a:p>
          <a:p>
            <a:pPr>
              <a:defRPr sz="1200"/>
            </a:pPr>
            <a:r>
              <a:t>                x_new = x - f(x)/df(x);</a:t>
            </a:r>
          </a:p>
          <a:p>
            <a:pPr>
              <a:defRPr sz="1200"/>
            </a:pPr>
            <a:r>
              <a:t>                if abs(x_new - x) &lt; obj.tol, break; end</a:t>
            </a:r>
          </a:p>
          <a:p>
            <a:pPr>
              <a:defRPr sz="1200"/>
            </a:pPr>
            <a:r>
              <a:t>                x = x_new;</a:t>
            </a:r>
          </a:p>
          <a:p>
            <a:pPr>
              <a:defRPr sz="1200"/>
            </a:pPr>
            <a:r>
              <a:t>            end</a:t>
            </a:r>
          </a:p>
          <a:p>
            <a:pPr>
              <a:defRPr sz="1200"/>
            </a:pPr>
            <a:r>
              <a:t>            obj.result = x;</a:t>
            </a:r>
          </a:p>
          <a:p>
            <a:pPr>
              <a:defRPr sz="1200"/>
            </a:pPr>
            <a:r>
              <a:t>            obj.timeTaken = toc;</a:t>
            </a:r>
          </a:p>
          <a:p>
            <a:pPr>
              <a:defRPr sz="1200"/>
            </a:pPr>
            <a:r>
              <a:t>            fprintf('Newton-Raphson root = %.4f\n', obj.result);</a:t>
            </a:r>
          </a:p>
          <a:p>
            <a:pPr>
              <a:defRPr sz="1200"/>
            </a:pPr>
            <a:r>
              <a:t>        end</a:t>
            </a:r>
          </a:p>
          <a:p>
            <a:pPr>
              <a:defRPr sz="1200"/>
            </a:pPr>
            <a:r>
              <a:t>    end</a:t>
            </a:r>
          </a:p>
          <a:p>
            <a:pPr>
              <a:defRPr sz="1200"/>
            </a:pPr>
            <a:r>
              <a:t>end</a:t>
            </a:r>
          </a:p>
          <a:p>
            <a:pPr>
              <a:defRPr sz="12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IntegralMethods (Runge-Kutta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Pseudocode:</a:t>
            </a:r>
          </a:p>
          <a:p>
            <a:pPr>
              <a:defRPr sz="1200"/>
            </a:pPr>
            <a:r>
              <a:t>CLASS IntegralMethods EXTENDS NumericalMethod</a:t>
            </a:r>
          </a:p>
          <a:p>
            <a:pPr>
              <a:defRPr sz="1200"/>
            </a:pPr>
            <a:r>
              <a:t>  METHOD solve():</a:t>
            </a:r>
          </a:p>
          <a:p>
            <a:pPr>
              <a:defRPr sz="1200"/>
            </a:pPr>
            <a:r>
              <a:t>    Use RK2 for dv/dt = 9.8 - 0.2*v from t0 to tn with step h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MATLAB Code:</a:t>
            </a:r>
          </a:p>
          <a:p>
            <a:pPr>
              <a:defRPr sz="1200"/>
            </a:pPr>
            <a:r>
              <a:t>classdef IntegralMethods &lt; NumericalMethod</a:t>
            </a:r>
          </a:p>
          <a:p>
            <a:pPr>
              <a:defRPr sz="1200"/>
            </a:pPr>
            <a:r>
              <a:t>    methods</a:t>
            </a:r>
          </a:p>
          <a:p>
            <a:pPr>
              <a:defRPr sz="1200"/>
            </a:pPr>
            <a:r>
              <a:t>        function solve(obj)</a:t>
            </a:r>
          </a:p>
          <a:p>
            <a:pPr>
              <a:defRPr sz="1200"/>
            </a:pPr>
            <a:r>
              <a:t>            tic;</a:t>
            </a:r>
          </a:p>
          <a:p>
            <a:pPr>
              <a:defRPr sz="1200"/>
            </a:pPr>
            <a:r>
              <a:t>            f = obj.f; t0 = 0; v0 = 0; h = 2; tn = 50;</a:t>
            </a:r>
          </a:p>
          <a:p>
            <a:pPr>
              <a:defRPr sz="1200"/>
            </a:pPr>
            <a:r>
              <a:t>            n = (tn - t0)/h;</a:t>
            </a:r>
          </a:p>
          <a:p>
            <a:pPr>
              <a:defRPr sz="1200"/>
            </a:pPr>
            <a:r>
              <a:t>            t(1) = t0; v(1) = v0;</a:t>
            </a:r>
          </a:p>
          <a:p>
            <a:pPr>
              <a:defRPr sz="1200"/>
            </a:pPr>
            <a:r>
              <a:t>            for i = 1:n</a:t>
            </a:r>
          </a:p>
          <a:p>
            <a:pPr>
              <a:defRPr sz="1200"/>
            </a:pPr>
            <a:r>
              <a:t>                t(i+1) = t0 + i*h;</a:t>
            </a:r>
          </a:p>
          <a:p>
            <a:pPr>
              <a:defRPr sz="1200"/>
            </a:pPr>
            <a:r>
              <a:t>                k1 = h * f(t(i), v(i));</a:t>
            </a:r>
          </a:p>
          <a:p>
            <a:pPr>
              <a:defRPr sz="1200"/>
            </a:pPr>
            <a:r>
              <a:t>                k2 = h * f(t(i+1), v(i) + k1);</a:t>
            </a:r>
          </a:p>
          <a:p>
            <a:pPr>
              <a:defRPr sz="1200"/>
            </a:pPr>
            <a:r>
              <a:t>                v(i+1) = v(i) + 0.5 * (k1 + k2);</a:t>
            </a:r>
          </a:p>
          <a:p>
            <a:pPr>
              <a:defRPr sz="1200"/>
            </a:pPr>
            <a:r>
              <a:t>                fprintf('v(%.2f) = %.4f\n', t(i+1), v(i+1));</a:t>
            </a:r>
          </a:p>
          <a:p>
            <a:pPr>
              <a:defRPr sz="1200"/>
            </a:pPr>
            <a:r>
              <a:t>            end</a:t>
            </a:r>
          </a:p>
          <a:p>
            <a:pPr>
              <a:defRPr sz="1200"/>
            </a:pPr>
            <a:r>
              <a:t>            obj.result = v(end);</a:t>
            </a:r>
          </a:p>
          <a:p>
            <a:pPr>
              <a:defRPr sz="1200"/>
            </a:pPr>
            <a:r>
              <a:t>            obj.timeTaken = toc;</a:t>
            </a:r>
          </a:p>
          <a:p>
            <a:pPr>
              <a:defRPr sz="1200"/>
            </a:pPr>
            <a:r>
              <a:t>            fprintf('Final velocity after %.2f s = %.4f\n', t(end), obj.result);</a:t>
            </a:r>
          </a:p>
          <a:p>
            <a:pPr>
              <a:defRPr sz="1200"/>
            </a:pPr>
            <a:r>
              <a:t>        end</a:t>
            </a:r>
          </a:p>
          <a:p>
            <a:pPr>
              <a:defRPr sz="1200"/>
            </a:pPr>
            <a:r>
              <a:t>    end</a:t>
            </a:r>
          </a:p>
          <a:p>
            <a:pPr>
              <a:defRPr sz="1200"/>
            </a:pPr>
            <a:r>
              <a:t>end</a:t>
            </a:r>
          </a:p>
          <a:p>
            <a:pPr>
              <a:defRPr sz="12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App (Main Script)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Pseudocode:</a:t>
            </a:r>
          </a:p>
          <a:p>
            <a:pPr>
              <a:defRPr sz="1200"/>
            </a:pPr>
            <a:r>
              <a:t>CREATE DifferentialMethods object; set f(x)=x^3-x-2; tol=1e-4; CALL solve()</a:t>
            </a:r>
          </a:p>
          <a:p>
            <a:pPr>
              <a:defRPr sz="1200"/>
            </a:pPr>
            <a:r>
              <a:t>CREATE IntegralMethods object; set f(t,v)=9.8-0.2*v; tol=1e-4; CALL solve()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MATLAB Code:</a:t>
            </a:r>
          </a:p>
          <a:p>
            <a:pPr>
              <a:defRPr sz="1200"/>
            </a:pPr>
            <a:r>
              <a:t>clc; clear;</a:t>
            </a:r>
          </a:p>
          <a:p>
            <a:pPr>
              <a:defRPr sz="1200"/>
            </a:pPr>
            <a:r>
              <a:t>f1 = @(x) x.^3 - x - 2;</a:t>
            </a:r>
          </a:p>
          <a:p>
            <a:pPr>
              <a:defRPr sz="1200"/>
            </a:pPr>
            <a:r>
              <a:t>diffMethod = DifferentialMethods; diffMethod.f = f1; diffMethod.tol = 1e-4; diffMethod.solve();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f2 = @(t,v) 9.8 - 0.2*v;</a:t>
            </a:r>
          </a:p>
          <a:p>
            <a:pPr>
              <a:defRPr sz="1200"/>
            </a:pPr>
            <a:r>
              <a:t>intMethod = IntegralMethods; intMethod.f = f2; intMethod.tol = 1e-4; intMethod.solve();</a:t>
            </a:r>
          </a:p>
          <a:p>
            <a:pPr>
              <a:defRPr sz="12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Conclusion:</a:t>
            </a:r>
          </a:p>
          <a:p>
            <a:pPr>
              <a:defRPr sz="1200"/>
            </a:pPr>
            <a:r>
              <a:t>Implemented a simple OOP framework in MATLAB demonstrating abstraction, encapsulation, inheritance, and polymorphism.</a:t>
            </a:r>
          </a:p>
          <a:p>
            <a:pPr>
              <a:defRPr sz="1200"/>
            </a:pPr>
            <a:r>
              <a:t>DifferentialMethods uses Newton–Raphson for root finding.</a:t>
            </a:r>
          </a:p>
          <a:p>
            <a:pPr>
              <a:defRPr sz="1200"/>
            </a:pPr>
            <a:r>
              <a:t>IntegralMethods uses Runge–Kutta 2 for ODE solving.</a:t>
            </a:r>
          </a:p>
          <a:p>
            <a:pPr>
              <a:defRPr sz="1200"/>
            </a:pPr>
            <a:r>
              <a:t>The design is modular and easy to extend with other methods.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Recommendations:</a:t>
            </a:r>
          </a:p>
          <a:p>
            <a:pPr>
              <a:defRPr sz="1200"/>
            </a:pPr>
            <a:r>
              <a:t>Add input validation and more methods (Secant, Fixed-Point, Euler).</a:t>
            </a:r>
          </a:p>
          <a:p>
            <a:pPr>
              <a:defRPr sz="1200"/>
            </a:pPr>
            <a:r>
              <a:t>Save results to .mat files for post-processing and plotting.</a:t>
            </a:r>
          </a:p>
          <a:p>
            <a:pPr>
              <a:defRPr sz="12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